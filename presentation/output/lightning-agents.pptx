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Arial"/>
              </a:defRPr>
            </a:pPr>
            <a:r>
              <a:t>Factory-of-Factories for Dynamic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  <a:latin typeface="Arial"/>
              </a:defRPr>
            </a:pPr>
            <a:r>
              <a:t>Ricardo Pirruccio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 | aimug.org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Before &amp; After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DC3545"/>
                </a:solidFill>
              </a:defRPr>
            </a:pPr>
            <a:r>
              <a:t>TYPICAL AGENT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agent_v1.py, agent_v2.py, agent_final.py...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Hardcoded prompts in every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Copy-paste to create new agents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Change model name in 47 places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No single source of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</a:defRPr>
            </a:pPr>
            <a:r>
              <a:t>FACTORY-OF-FACTORIES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7327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One agents.json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Declarative definitions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Registry builds factories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Runtime context injection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Agents create new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Voyager Insight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7315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VOYAGER (2023)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24447" y="1645920"/>
            <a:ext cx="5410047" cy="7315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LIGHTNING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4447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Learns new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Creates new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skill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agents.json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Retrieves when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Registry.create()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Skills compound over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Agents create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SAME PATTERN. DIFFERENT DOMAIN.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Industry Agrees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oy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2306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55448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Voyager (2023)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1460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g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7462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260604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ep_ag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2618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7360" y="365760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Deep Agents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1772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laude_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77774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7360" y="4709159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Claude Agent SDK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171700"/>
            <a:ext cx="3200400" cy="2560320"/>
          </a:xfrm>
          <a:prstGeom prst="round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Factory-of-Factories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49039" y="178308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3749039" y="283464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3749039" y="388620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3749039" y="493776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66666"/>
                </a:solidFill>
              </a:defRPr>
            </a:pPr>
            <a:r>
              <a:t>Everyone's arriving at the same place: less code, more context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Solution: Factory-of-Factories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37744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agents.json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Single source of truth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237744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JSON with prompt, model,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37744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Creates configured instances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37744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Instance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Ready to run with context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74720" y="288036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217920" y="288036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961119" y="288036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Simple Factory vs Factory-of-Factories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</a:defRPr>
            </a:pPr>
            <a:r>
              <a:t>Simple Factory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def create_agent(config):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return Agent(config)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</a:defRPr>
            </a:pPr>
            <a:r>
              <a:t>Factory-of-Factories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registry = AgentRegistry.from_json(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"agents.json"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agent = registry.create(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"researcher", {"topic": "AI"}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Declarative Agent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"architect": 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"name": "Agent Architect",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"description": "Designs new 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"system_prompt": "You are an Agent Architect...",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"model": "sonnet",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"tools": [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"mcp__custom-tools__db_create_agent",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"mcp__custom-tools__db_list_agents",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"mcp__custom-tools__run_agent"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Registry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329184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class AgentRegistry: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from_json(path) -&gt; "AgentRegistry":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Load definitions -&gt; build factories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create(id, opts) -&gt; AgentInstance: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Factory creates configured instance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register(id, defn) -&gt; None: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Add new agent to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Single source of truth</a:t>
            </a:r>
            <a:r>
              <a:rPr sz="1600">
                <a:solidFill>
                  <a:srgbClr val="1A1A2E"/>
                </a:solidFill>
                <a:latin typeface="Arial"/>
              </a:rPr>
              <a:t> for all agent definitions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Runtime creation</a:t>
            </a:r>
            <a:r>
              <a:rPr sz="1600">
                <a:solidFill>
                  <a:srgbClr val="1A1A2E"/>
                </a:solidFill>
                <a:latin typeface="Arial"/>
              </a:rPr>
              <a:t> - agents spawn new agents on demand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Self-modifying</a:t>
            </a:r>
            <a:r>
              <a:rPr sz="1600">
                <a:solidFill>
                  <a:srgbClr val="1A1A2E"/>
                </a:solidFill>
                <a:latin typeface="Arial"/>
              </a:rPr>
              <a:t> - architects can register new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Architect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Task</a:t>
            </a:r>
            <a:br/>
            <a:r>
              <a:t>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3017520" cy="182880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Architect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520439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6B35"/>
                </a:solidFill>
                <a:latin typeface="Arial"/>
              </a:defRPr>
            </a:pPr>
            <a:r>
              <a:t>🏗️ The agent that creates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0116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Definition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457200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457200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Instance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34640" y="2514600"/>
            <a:ext cx="54863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1945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666666"/>
                </a:solidFill>
              </a:defRPr>
            </a:pPr>
            <a:r>
              <a:t>Receives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83679" y="2423160"/>
            <a:ext cx="6400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666666"/>
                </a:solidFill>
              </a:defRPr>
            </a:pPr>
            <a:r>
              <a:t>Generates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183879" y="3383280"/>
            <a:ext cx="274320" cy="10972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9" y="37947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Persists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77840" y="5074920"/>
            <a:ext cx="164592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666666"/>
                </a:solidFill>
              </a:defRPr>
            </a:pPr>
            <a:r>
              <a:t>Spawns</a:t>
            </a:r>
          </a:p>
        </p:txBody>
      </p:sp>
      <p:sp>
        <p:nvSpPr>
          <p:cNvPr id="17" name="U-Turn Arrow 16"/>
          <p:cNvSpPr/>
          <p:nvPr/>
        </p:nvSpPr>
        <p:spPr>
          <a:xfrm>
            <a:off x="9418319" y="4754880"/>
            <a:ext cx="914400" cy="1188720"/>
          </a:xfrm>
          <a:prstGeom prst="uturn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4846320"/>
            <a:ext cx="1463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6B35"/>
                </a:solidFill>
              </a:defRPr>
            </a:pPr>
            <a:r>
              <a:t>Can now create</a:t>
            </a:r>
            <a:br/>
            <a:r>
              <a:t>agents too!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🤔 What happens when created agents can also create agents?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Introducing: The Tool 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</a:t>
            </a:r>
            <a:br/>
            <a:r>
              <a:t>Request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7520" y="256032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tool_architect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88619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6B35"/>
                </a:solidFill>
                <a:latin typeface="Arial"/>
              </a:defRPr>
            </a:pPr>
            <a:r>
              <a:t>🤖 Agent</a:t>
            </a:r>
          </a:p>
        </p:txBody>
      </p:sp>
      <p:sp>
        <p:nvSpPr>
          <p:cNvPr id="6" name="Document 5"/>
          <p:cNvSpPr/>
          <p:nvPr/>
        </p:nvSpPr>
        <p:spPr>
          <a:xfrm>
            <a:off x="5577840" y="2560320"/>
            <a:ext cx="2011680" cy="1280160"/>
          </a:xfrm>
          <a:prstGeom prst="flowChartDocumen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📁 db/tools.json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56032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tool_implementer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8619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6B35"/>
                </a:solidFill>
                <a:latin typeface="Arial"/>
              </a:defRPr>
            </a:pPr>
            <a:r>
              <a:t>🤖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75488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Tool</a:t>
            </a:r>
            <a:br/>
            <a:r>
              <a:t>Available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006840" y="3931919"/>
            <a:ext cx="274320" cy="7315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411479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Tests &amp; deploys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60320" y="3063240"/>
            <a:ext cx="36575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666666"/>
                </a:solidFill>
              </a:defRPr>
            </a:pPr>
            <a:r>
              <a:t>Designs spec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20640" y="3063240"/>
            <a:ext cx="365759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666666"/>
                </a:solidFill>
              </a:defRPr>
            </a:pPr>
            <a:r>
              <a:t>Persists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80960" y="3063240"/>
            <a:ext cx="36576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27432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666666"/>
                </a:solidFill>
              </a:defRPr>
            </a:pPr>
            <a:r>
              <a:t>Implements</a:t>
            </a:r>
          </a:p>
        </p:txBody>
      </p:sp>
      <p:sp>
        <p:nvSpPr>
          <p:cNvPr id="18" name="Curved Left Arrow 17"/>
          <p:cNvSpPr/>
          <p:nvPr/>
        </p:nvSpPr>
        <p:spPr>
          <a:xfrm>
            <a:off x="7406640" y="5029200"/>
            <a:ext cx="640080" cy="731520"/>
          </a:xfrm>
          <a:prstGeom prst="curvedLeftArrow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502920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8A745"/>
                </a:solidFill>
              </a:defRPr>
            </a:pPr>
            <a:r>
              <a:t>Now available</a:t>
            </a:r>
            <a:br/>
            <a:r>
              <a:t>system-wide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43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🤯 Agents creating tools for other agents to use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Demo: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list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10 agents: architect, tool_architect, paper_researcher...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paper_researcher "Find the Voyager paper"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Found: arxiv.org/abs/2305.16291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Downloaded: voyager_lifelong_learning.pdf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presentation_slide_writer "List slides"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12 slides in current presentation...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Meta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used </a:t>
            </a: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to find the </a:t>
            </a:r>
            <a:r>
              <a:rPr b="1" sz="1800">
                <a:solidFill>
                  <a:srgbClr val="0088CC"/>
                </a:solidFill>
                <a:latin typeface="Arial"/>
              </a:rPr>
              <a:t>Voyager paper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Voyager inspired the </a:t>
            </a:r>
            <a:r>
              <a:rPr b="1" sz="1800">
                <a:solidFill>
                  <a:srgbClr val="0088CC"/>
                </a:solidFill>
                <a:latin typeface="Arial"/>
              </a:rPr>
              <a:t>architect pattern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built </a:t>
            </a: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to create </a:t>
            </a:r>
            <a:r>
              <a:rPr b="1" sz="1800">
                <a:solidFill>
                  <a:srgbClr val="0088CC"/>
                </a:solidFill>
                <a:latin typeface="Arial"/>
              </a:rPr>
              <a:t>more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built </a:t>
            </a:r>
            <a:r>
              <a:rPr b="1" sz="1800">
                <a:solidFill>
                  <a:srgbClr val="0088CC"/>
                </a:solidFill>
                <a:latin typeface="Arial"/>
              </a:rPr>
              <a:t>THIS presentation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This slide</a:t>
            </a:r>
            <a:r>
              <a:rPr sz="1800">
                <a:solidFill>
                  <a:srgbClr val="1A1A2E"/>
                </a:solidFill>
                <a:latin typeface="Arial"/>
              </a:rPr>
              <a:t> was created by an agent that was created by an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40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Questions?</a:t>
            </a:r>
          </a:p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tools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Built with </a:t>
            </a:r>
            <a:r>
              <a:rPr sz="1600">
                <a:solidFill>
                  <a:srgbClr val="FF6B35"/>
                </a:solidFill>
                <a:latin typeface="Consolas"/>
              </a:rPr>
              <a:t>Claude Agent SDK</a:t>
            </a:r>
            <a:r>
              <a:rPr sz="1800">
                <a:solidFill>
                  <a:srgbClr val="1A1A2E"/>
                </a:solidFill>
                <a:latin typeface="Arial"/>
              </a:rPr>
              <a:t> + </a:t>
            </a:r>
            <a:r>
              <a:rPr sz="1600">
                <a:solidFill>
                  <a:srgbClr val="FF6B35"/>
                </a:solidFill>
                <a:latin typeface="Consolas"/>
              </a:rPr>
              <a:t>MCP</a:t>
            </a:r>
          </a:p>
          <a:p>
            <a:pPr algn="ctr"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github.com/aimug-org/austin_langchain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