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88CC"/>
                </a:solidFill>
                <a:latin typeface="Arial"/>
              </a:defRPr>
            </a:pPr>
            <a:r>
              <a:t>⚡ Lightning Agents 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  <a:latin typeface="Arial"/>
              </a:defRPr>
            </a:pPr>
            <a:r>
              <a:t>Factory-of-Factories for Dynamic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  <a:latin typeface="Arial"/>
              </a:defRPr>
            </a:pPr>
            <a:r>
              <a:t>Ricardo Pirruccio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6B35"/>
                </a:solidFill>
                <a:latin typeface="Arial"/>
              </a:defRPr>
            </a:pPr>
            <a:r>
              <a:t>github.com/RPirruccio/lightning-agents | aimug.org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Before &amp; After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5410047" cy="4389120"/>
          </a:xfrm>
          <a:prstGeom prst="roundRect">
            <a:avLst/>
          </a:prstGeom>
          <a:solidFill>
            <a:srgbClr val="F8F9FA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541004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DC3545"/>
                </a:solidFill>
              </a:defRPr>
            </a:pPr>
            <a:r>
              <a:t>TYPICAL AGENT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5044287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agent_v1.py, agent_v2.py, agent_final.py...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Hardcoded prompts in every file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Copy-paste to create new agents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Change model name in 47 places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No single source of truth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645920"/>
            <a:ext cx="5410047" cy="4389120"/>
          </a:xfrm>
          <a:prstGeom prst="roundRect">
            <a:avLst/>
          </a:prstGeom>
          <a:solidFill>
            <a:srgbClr val="F8F9FA"/>
          </a:solidFill>
          <a:ln w="381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828800"/>
            <a:ext cx="541004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8A745"/>
                </a:solidFill>
              </a:defRPr>
            </a:pPr>
            <a:r>
              <a:t>FACTORY-OF-FACTORIES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7327" y="2468880"/>
            <a:ext cx="5044287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One agents.json file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Declarative definitions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Registry builds factories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Runtime context injection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Agents create new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Voyager Insight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5410047" cy="7315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VOYAGER (2023)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24447" y="1645920"/>
            <a:ext cx="5410047" cy="73152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LIGHTNING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46888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24447" y="246888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Learns new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60604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Creates new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Stores in skill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324612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Stores in agents.json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4904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4447" y="374904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8620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Retrieves when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7" y="388620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Registry.create()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Skills compound over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452628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Agents create 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6928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88CC"/>
                </a:solidFill>
              </a:defRPr>
            </a:pPr>
            <a:r>
              <a:t>SAME PATTERN. DIFFERENT DOMAIN.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Industry Agrees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46304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oy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2306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1554480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Voyager (2023)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51460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ng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67462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2606040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LangGraph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6616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eep_ag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72618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37360" y="3657600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Deep Agents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61772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laude_sd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477774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7360" y="4709159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Claude Agent SDK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2171700"/>
            <a:ext cx="3200400" cy="2560320"/>
          </a:xfrm>
          <a:prstGeom prst="round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Factory-of-Factories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49039" y="178308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3749039" y="283464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3749039" y="388620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3749039" y="493776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03504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666666"/>
                </a:solidFill>
              </a:defRPr>
            </a:pPr>
            <a:r>
              <a:t>Everyone's arriving at the same place: less code, more context engineering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Solution: Factory-of-Factories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37744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agents.json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749039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  <a:latin typeface="Arial"/>
              </a:defRPr>
            </a:pPr>
            <a:r>
              <a:t>Single source of truth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0" y="237744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3749039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  <a:latin typeface="Arial"/>
              </a:defRPr>
            </a:pPr>
            <a:r>
              <a:t>JSON with prompt, model,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377440"/>
            <a:ext cx="2011680" cy="128016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Factory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749039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  <a:latin typeface="Arial"/>
              </a:defRPr>
            </a:pPr>
            <a:r>
              <a:t>Creates configured instances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2377440"/>
            <a:ext cx="2011680" cy="1280160"/>
          </a:xfrm>
          <a:prstGeom prst="roundRect">
            <a:avLst/>
          </a:prstGeom>
          <a:solidFill>
            <a:srgbClr val="28A745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Instance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3749039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  <a:latin typeface="Arial"/>
              </a:defRPr>
            </a:pPr>
            <a:r>
              <a:t>Ready to run with context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74720" y="288036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6217920" y="288036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8961120" y="288036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Simple Factory vs Factory-of-Factories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100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666666"/>
                </a:solidFill>
              </a:defRPr>
            </a:pPr>
            <a:r>
              <a:t>Simple Factory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410047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44287" cy="3749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def create_agent(config):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return Agent(config)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371600"/>
            <a:ext cx="54100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6B35"/>
                </a:solidFill>
              </a:defRPr>
            </a:pPr>
            <a:r>
              <a:t>Factory-of-Factories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28800"/>
            <a:ext cx="5410047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011680"/>
            <a:ext cx="5044287" cy="3749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registry = AgentRegistry.from_json(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"agents.json"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agent = registry.create(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"researcher", {"topic": "AI"}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Declarative Agent Definition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9377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{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"architect": {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"name": "Agent Architect",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"description": "Designs new agents",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"system_prompt": "You are an Agent Architect...",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"model": "sonnet",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"tools": [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"mcp__custom-tools__db_create_agent",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"mcp__custom-tools__db_list_agents",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"mcp__custom-tools__run_agent"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]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}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Registry Pattern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329184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class AgentRegistry: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def from_json(path) -&gt; "AgentRegistry":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# Load definitions -&gt; build factories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def create(id, opts) -&gt; AgentInstance: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# Factory creates configured instance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def register(id, defn) -&gt; None: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# Add new agent to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Single source of truth</a:t>
            </a:r>
            <a:r>
              <a:rPr sz="1600">
                <a:solidFill>
                  <a:srgbClr val="1A1A2E"/>
                </a:solidFill>
                <a:latin typeface="Arial"/>
              </a:rPr>
              <a:t> for all agent definitions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Runtime creation</a:t>
            </a:r>
            <a:r>
              <a:rPr sz="1600">
                <a:solidFill>
                  <a:srgbClr val="1A1A2E"/>
                </a:solidFill>
                <a:latin typeface="Arial"/>
              </a:rPr>
              <a:t> - agents spawn new agents on demand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Self-modifying</a:t>
            </a:r>
            <a:r>
              <a:rPr sz="1600">
                <a:solidFill>
                  <a:srgbClr val="1A1A2E"/>
                </a:solidFill>
                <a:latin typeface="Arial"/>
              </a:rPr>
              <a:t> - architects can register new agents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Architect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286000"/>
            <a:ext cx="2011680" cy="1280160"/>
          </a:xfrm>
          <a:prstGeom prst="roundRect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Task</a:t>
            </a:r>
            <a:br/>
            <a:r>
              <a:t>Description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2286000"/>
            <a:ext cx="2011680" cy="128016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Architect</a:t>
            </a:r>
            <a:br/>
            <a:r>
              <a:t>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228600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New Agent</a:t>
            </a:r>
            <a:br/>
            <a:r>
              <a:t>Definition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438912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Registry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389120"/>
            <a:ext cx="2011680" cy="1280160"/>
          </a:xfrm>
          <a:prstGeom prst="roundRect">
            <a:avLst/>
          </a:prstGeom>
          <a:solidFill>
            <a:srgbClr val="28A745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New Agent</a:t>
            </a:r>
            <a:br/>
            <a:r>
              <a:t>Instance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74720" y="2788920"/>
            <a:ext cx="9144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6675120" y="2788920"/>
            <a:ext cx="9144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641080" y="3657600"/>
            <a:ext cx="274320" cy="640079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6675120" y="4892040"/>
            <a:ext cx="9144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8641080" y="3657600"/>
            <a:ext cx="274320" cy="640080"/>
          </a:xfrm>
          <a:prstGeom prst="downArrow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Introducing: The Tool Architect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926080"/>
            <a:ext cx="2011680" cy="1280160"/>
          </a:xfrm>
          <a:prstGeom prst="roundRect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Tool</a:t>
            </a:r>
            <a:br/>
            <a:r>
              <a:t>Request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0" y="2926080"/>
            <a:ext cx="2011680" cy="128016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tool_architect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92608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db/tools.json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926080"/>
            <a:ext cx="2011680" cy="128016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tool_implementer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0" y="4754880"/>
            <a:ext cx="2011680" cy="1280160"/>
          </a:xfrm>
          <a:prstGeom prst="roundRect">
            <a:avLst/>
          </a:prstGeom>
          <a:solidFill>
            <a:srgbClr val="28A745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New Tool</a:t>
            </a:r>
            <a:br/>
            <a:r>
              <a:t>Available</a:t>
            </a:r>
          </a:p>
        </p:txBody>
      </p:sp>
      <p:sp>
        <p:nvSpPr>
          <p:cNvPr id="8" name="Down Arrow 7"/>
          <p:cNvSpPr/>
          <p:nvPr/>
        </p:nvSpPr>
        <p:spPr>
          <a:xfrm>
            <a:off x="10012680" y="4297679"/>
            <a:ext cx="274320" cy="36576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3017520" y="342900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5760720" y="342900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8503920" y="342900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Demo: What We Built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9377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$ lightning list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10 agents: architect, tool_architect, paper_researcher...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$ lightning run paper_researcher "Find the Voyager paper"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Found: arxiv.org/abs/2305.16291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Downloaded: voyager_lifelong_learning.pdf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$ lightning run presentation_slide_writer "List slides"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12 slides in current presentation...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Meta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We used </a:t>
            </a:r>
            <a:r>
              <a:rPr sz="1600">
                <a:solidFill>
                  <a:srgbClr val="FF6B35"/>
                </a:solidFill>
                <a:latin typeface="Consolas"/>
              </a:rPr>
              <a:t>paper_researcher</a:t>
            </a:r>
            <a:r>
              <a:rPr sz="1800">
                <a:solidFill>
                  <a:srgbClr val="1A1A2E"/>
                </a:solidFill>
                <a:latin typeface="Arial"/>
              </a:rPr>
              <a:t> to find the </a:t>
            </a:r>
            <a:r>
              <a:rPr b="1" sz="1800">
                <a:solidFill>
                  <a:srgbClr val="0088CC"/>
                </a:solidFill>
                <a:latin typeface="Arial"/>
              </a:rPr>
              <a:t>Voyager paper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Voyager inspired the </a:t>
            </a:r>
            <a:r>
              <a:rPr b="1" sz="1800">
                <a:solidFill>
                  <a:srgbClr val="0088CC"/>
                </a:solidFill>
                <a:latin typeface="Arial"/>
              </a:rPr>
              <a:t>architect pattern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We built </a:t>
            </a:r>
            <a:r>
              <a:rPr sz="1600">
                <a:solidFill>
                  <a:srgbClr val="FF6B35"/>
                </a:solidFill>
                <a:latin typeface="Consolas"/>
              </a:rPr>
              <a:t>tool_architect</a:t>
            </a:r>
            <a:r>
              <a:rPr sz="1800">
                <a:solidFill>
                  <a:srgbClr val="1A1A2E"/>
                </a:solidFill>
                <a:latin typeface="Arial"/>
              </a:rPr>
              <a:t> to create </a:t>
            </a:r>
            <a:r>
              <a:rPr b="1" sz="1800">
                <a:solidFill>
                  <a:srgbClr val="0088CC"/>
                </a:solidFill>
                <a:latin typeface="Arial"/>
              </a:rPr>
              <a:t>more tools</a:t>
            </a:r>
          </a:p>
          <a:p>
            <a:pPr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presentation_slide_writer</a:t>
            </a:r>
            <a:r>
              <a:rPr sz="1800">
                <a:solidFill>
                  <a:srgbClr val="1A1A2E"/>
                </a:solidFill>
                <a:latin typeface="Arial"/>
              </a:rPr>
              <a:t> built </a:t>
            </a:r>
            <a:r>
              <a:rPr b="1" sz="1800">
                <a:solidFill>
                  <a:srgbClr val="0088CC"/>
                </a:solidFill>
                <a:latin typeface="Arial"/>
              </a:rPr>
              <a:t>THIS presentation</a:t>
            </a:r>
          </a:p>
          <a:p>
            <a:pPr>
              <a:spcBef>
                <a:spcPts val="1600"/>
              </a:spcBef>
            </a:pPr>
            <a:r>
              <a:rPr sz="1800" b="1">
                <a:solidFill>
                  <a:srgbClr val="0088CC"/>
                </a:solidFill>
                <a:latin typeface="Arial"/>
              </a:rPr>
              <a:t>This slide</a:t>
            </a:r>
            <a:r>
              <a:rPr sz="1800">
                <a:solidFill>
                  <a:srgbClr val="1A1A2E"/>
                </a:solidFill>
                <a:latin typeface="Arial"/>
              </a:rPr>
              <a:t> was created by an agent that was created by an agent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88CC"/>
                </a:solidFill>
                <a:latin typeface="Arial"/>
              </a:defRPr>
            </a:pPr>
            <a:r>
              <a:t>⚡ Lightning Agents 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534095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1600"/>
              </a:spcBef>
            </a:pPr>
            <a:r>
              <a:rPr b="1" sz="1800">
                <a:solidFill>
                  <a:srgbClr val="0088CC"/>
                </a:solidFill>
                <a:latin typeface="Arial"/>
              </a:rPr>
              <a:t>Questions?</a:t>
            </a:r>
          </a:p>
          <a:p>
            <a:pPr algn="ctr">
              <a:spcBef>
                <a:spcPts val="1600"/>
              </a:spcBef>
            </a:pPr>
            <a:r>
              <a:rPr b="1" sz="1800">
                <a:solidFill>
                  <a:srgbClr val="0088CC"/>
                </a:solidFill>
                <a:latin typeface="Arial"/>
              </a:rPr>
              <a:t>Agents</a:t>
            </a:r>
            <a:r>
              <a:rPr sz="1800">
                <a:solidFill>
                  <a:srgbClr val="1A1A2E"/>
                </a:solidFill>
                <a:latin typeface="Arial"/>
              </a:rPr>
              <a:t> creating </a:t>
            </a:r>
            <a:r>
              <a:rPr b="1" sz="1800">
                <a:solidFill>
                  <a:srgbClr val="0088CC"/>
                </a:solidFill>
                <a:latin typeface="Arial"/>
              </a:rPr>
              <a:t>agents</a:t>
            </a:r>
            <a:r>
              <a:rPr sz="1800">
                <a:solidFill>
                  <a:srgbClr val="1A1A2E"/>
                </a:solidFill>
                <a:latin typeface="Arial"/>
              </a:rPr>
              <a:t> creating </a:t>
            </a:r>
            <a:r>
              <a:rPr b="1" sz="1800">
                <a:solidFill>
                  <a:srgbClr val="0088CC"/>
                </a:solidFill>
                <a:latin typeface="Arial"/>
              </a:rPr>
              <a:t>tools</a:t>
            </a:r>
          </a:p>
          <a:p>
            <a:pPr algn="ctr"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Built with </a:t>
            </a:r>
            <a:r>
              <a:rPr sz="1600">
                <a:solidFill>
                  <a:srgbClr val="FF6B35"/>
                </a:solidFill>
                <a:latin typeface="Consolas"/>
              </a:rPr>
              <a:t>Claude Agent SDK</a:t>
            </a:r>
            <a:r>
              <a:rPr sz="1800">
                <a:solidFill>
                  <a:srgbClr val="1A1A2E"/>
                </a:solidFill>
                <a:latin typeface="Arial"/>
              </a:rPr>
              <a:t> + </a:t>
            </a:r>
            <a:r>
              <a:rPr sz="1600">
                <a:solidFill>
                  <a:srgbClr val="FF6B35"/>
                </a:solidFill>
                <a:latin typeface="Consolas"/>
              </a:rPr>
              <a:t>MCP</a:t>
            </a:r>
          </a:p>
          <a:p>
            <a:pPr algn="ctr"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github.com/aimug-org/austin_langchain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6B35"/>
                </a:solidFill>
                <a:latin typeface="Arial"/>
              </a:defRPr>
            </a:pPr>
            <a:r>
              <a:t>github.com/RPirruccio/lightning-agents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