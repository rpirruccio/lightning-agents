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88CC"/>
                </a:solidFill>
                <a:latin typeface="Arial"/>
              </a:defRPr>
            </a:pPr>
            <a:r>
              <a:t>Lightning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  <a:latin typeface="Arial"/>
              </a:defRPr>
            </a:pPr>
            <a:r>
              <a:t>Factory-of-Factories for Dynamic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B35"/>
                </a:solidFill>
                <a:latin typeface="Arial"/>
              </a:defRPr>
            </a:pPr>
            <a:r>
              <a:t>Austin AI MUG Lightning Talk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1800" b="1">
                <a:solidFill>
                  <a:srgbClr val="0088CC"/>
                </a:solidFill>
                <a:latin typeface="Arial"/>
              </a:rPr>
              <a:t>Hardcoded</a:t>
            </a:r>
            <a:r>
              <a:rPr sz="1800">
                <a:solidFill>
                  <a:srgbClr val="1A1A2E"/>
                </a:solidFill>
                <a:latin typeface="Arial"/>
              </a:rPr>
              <a:t> system prompts scattered across files</a:t>
            </a:r>
          </a:p>
          <a:p>
            <a:pPr>
              <a:spcBef>
                <a:spcPts val="1600"/>
              </a:spcBef>
            </a:pPr>
            <a:r>
              <a:rPr sz="1800" b="1">
                <a:solidFill>
                  <a:srgbClr val="0088CC"/>
                </a:solidFill>
                <a:latin typeface="Arial"/>
              </a:rPr>
              <a:t>Tightly coupled</a:t>
            </a:r>
            <a:r>
              <a:rPr sz="1800">
                <a:solidFill>
                  <a:srgbClr val="1A1A2E"/>
                </a:solidFill>
                <a:latin typeface="Arial"/>
              </a:rPr>
              <a:t> agent definitions and execution logic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No standardized way to add agents </a:t>
            </a:r>
            <a:r>
              <a:rPr b="1" sz="1800">
                <a:solidFill>
                  <a:srgbClr val="0088CC"/>
                </a:solidFill>
                <a:latin typeface="Arial"/>
              </a:rPr>
              <a:t>without code changes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Manual </a:t>
            </a:r>
            <a:r>
              <a:rPr b="1" sz="1800">
                <a:solidFill>
                  <a:srgbClr val="0088CC"/>
                </a:solidFill>
                <a:latin typeface="Arial"/>
              </a:rPr>
              <a:t>configuration duplication</a:t>
            </a:r>
            <a:r>
              <a:rPr sz="1800">
                <a:solidFill>
                  <a:srgbClr val="1A1A2E"/>
                </a:solidFill>
                <a:latin typeface="Arial"/>
              </a:rPr>
              <a:t> when agents share patterns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Solution: Factory-of-Factories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92608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Definition</a:t>
            </a:r>
            <a:br/>
            <a:r>
              <a:t>(JSON)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292608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Factory</a:t>
            </a:r>
            <a:br/>
            <a:r>
              <a:t>(Callable)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292608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Registry</a:t>
            </a:r>
            <a:br/>
            <a:r>
              <a:t>(Unified)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292608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Instance</a:t>
            </a:r>
            <a:br/>
            <a:r>
              <a:t>(Ready)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474720" y="342900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6217920" y="342900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8961120" y="342900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Simple Factory vs Factory-of-Factories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100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</a:defRPr>
            </a:pPr>
            <a:r>
              <a:t>Simple Factory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410047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44287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def create_agent(config):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return Agent(config)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371600"/>
            <a:ext cx="54100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6B35"/>
                </a:solidFill>
              </a:defRPr>
            </a:pPr>
            <a:r>
              <a:t>Factory-of-Factories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28800"/>
            <a:ext cx="5410047" cy="4114800"/>
          </a:xfrm>
          <a:prstGeom prst="roundRect">
            <a:avLst/>
          </a:prstGeom>
          <a:solidFill>
            <a:srgbClr val="F8F9FA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011680"/>
            <a:ext cx="5044287" cy="3749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registry = AgentRegistry.from_json(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"agents.json"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)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agent = registry.create(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"researcher", {"topic": "AI"}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Declarative Agent Definition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{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"architect": {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"name": "Agent Architect",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"description": "Designs new agents",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"system_prompt": "You are an Agent Architect...",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"model": "sonnet",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"tools": []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}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Registry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class AgentRegistry: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from_json(path) -&gt; "AgentRegistry":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Load definitions -&gt; build factories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create(id, opts) -&gt; AgentInstance: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Factory creates configured instance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def register(id, defn) -&gt; None: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      # Add new agent to registry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Voyager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1800" b="1">
                <a:solidFill>
                  <a:srgbClr val="0088CC"/>
                </a:solidFill>
                <a:latin typeface="Arial"/>
              </a:rPr>
              <a:t>Voyager</a:t>
            </a:r>
            <a:r>
              <a:rPr sz="1800">
                <a:solidFill>
                  <a:srgbClr val="1A1A2E"/>
                </a:solidFill>
                <a:latin typeface="Arial"/>
              </a:rPr>
              <a:t>: Minecraft AI with a growing </a:t>
            </a:r>
            <a:r>
              <a:rPr b="1" sz="1800">
                <a:solidFill>
                  <a:srgbClr val="0088CC"/>
                </a:solidFill>
                <a:latin typeface="Arial"/>
              </a:rPr>
              <a:t>skill library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Learns new skills → </a:t>
            </a:r>
            <a:r>
              <a:rPr b="1" sz="1800">
                <a:solidFill>
                  <a:srgbClr val="0088CC"/>
                </a:solidFill>
                <a:latin typeface="Arial"/>
              </a:rPr>
              <a:t>stores them</a:t>
            </a:r>
            <a:r>
              <a:rPr sz="1800">
                <a:solidFill>
                  <a:srgbClr val="1A1A2E"/>
                </a:solidFill>
                <a:latin typeface="Arial"/>
              </a:rPr>
              <a:t> → reuses them</a:t>
            </a:r>
          </a:p>
          <a:p>
            <a:pPr>
              <a:spcBef>
                <a:spcPts val="1600"/>
              </a:spcBef>
            </a:pPr>
            <a:r>
              <a:rPr sz="1800" b="1">
                <a:solidFill>
                  <a:srgbClr val="0088CC"/>
                </a:solidFill>
                <a:latin typeface="Arial"/>
              </a:rPr>
              <a:t>Lightning Agents</a:t>
            </a:r>
            <a:r>
              <a:rPr sz="1800">
                <a:solidFill>
                  <a:srgbClr val="1A1A2E"/>
                </a:solidFill>
                <a:latin typeface="Arial"/>
              </a:rPr>
              <a:t>: same pattern for AI agents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architect</a:t>
            </a:r>
            <a:r>
              <a:rPr sz="1800">
                <a:solidFill>
                  <a:srgbClr val="1A1A2E"/>
                </a:solidFill>
                <a:latin typeface="Arial"/>
              </a:rPr>
              <a:t> creates → </a:t>
            </a:r>
            <a:r>
              <a:rPr sz="1600">
                <a:solidFill>
                  <a:srgbClr val="FF6B35"/>
                </a:solidFill>
                <a:latin typeface="Consolas"/>
              </a:rPr>
              <a:t>Registry</a:t>
            </a:r>
            <a:r>
              <a:rPr sz="1800">
                <a:solidFill>
                  <a:srgbClr val="1A1A2E"/>
                </a:solidFill>
                <a:latin typeface="Arial"/>
              </a:rPr>
              <a:t> stores → </a:t>
            </a:r>
            <a:r>
              <a:rPr sz="1600">
                <a:solidFill>
                  <a:srgbClr val="FF6B35"/>
                </a:solidFill>
                <a:latin typeface="Consolas"/>
              </a:rPr>
              <a:t>CLI</a:t>
            </a:r>
            <a:r>
              <a:rPr sz="1800">
                <a:solidFill>
                  <a:srgbClr val="1A1A2E"/>
                </a:solidFill>
                <a:latin typeface="Arial"/>
              </a:rPr>
              <a:t> runs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Architect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286000"/>
            <a:ext cx="2011680" cy="128016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Task</a:t>
            </a:r>
            <a:br/>
            <a:r>
              <a:t>Description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2286000"/>
            <a:ext cx="2011680" cy="1280160"/>
          </a:xfrm>
          <a:prstGeom prst="roundRect">
            <a:avLst/>
          </a:prstGeom>
          <a:solidFill>
            <a:srgbClr val="FF6B35"/>
          </a:solidFill>
          <a:ln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Architect</a:t>
            </a:r>
            <a:br/>
            <a:r>
              <a:t>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228600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Agent</a:t>
            </a:r>
            <a:br/>
            <a:r>
              <a:t>Definition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4389120"/>
            <a:ext cx="2011680" cy="1280160"/>
          </a:xfrm>
          <a:prstGeom prst="roundRect">
            <a:avLst/>
          </a:prstGeom>
          <a:solidFill>
            <a:srgbClr val="0088CC"/>
          </a:solidFill>
          <a:ln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Registry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389120"/>
            <a:ext cx="2011680" cy="1280160"/>
          </a:xfrm>
          <a:prstGeom prst="roundRect">
            <a:avLst/>
          </a:prstGeom>
          <a:solidFill>
            <a:srgbClr val="28A745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New Agent</a:t>
            </a:r>
            <a:br/>
            <a:r>
              <a:t>Instance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74720" y="2788920"/>
            <a:ext cx="9144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6675120" y="2788920"/>
            <a:ext cx="9144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641080" y="3657600"/>
            <a:ext cx="274320" cy="640079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6675120" y="4892040"/>
            <a:ext cx="9144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But Wait... Tool Architect Too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Agents can also design </a:t>
            </a:r>
            <a:r>
              <a:rPr b="1" sz="1800">
                <a:solidFill>
                  <a:srgbClr val="0088CC"/>
                </a:solidFill>
                <a:latin typeface="Arial"/>
              </a:rPr>
              <a:t>NEW TOOLS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tool_architect</a:t>
            </a:r>
            <a:r>
              <a:rPr sz="1800">
                <a:solidFill>
                  <a:srgbClr val="1A1A2E"/>
                </a:solidFill>
                <a:latin typeface="Arial"/>
              </a:rPr>
              <a:t> registers definitions in </a:t>
            </a:r>
            <a:r>
              <a:rPr sz="1600">
                <a:solidFill>
                  <a:srgbClr val="FF6B35"/>
                </a:solidFill>
                <a:latin typeface="Consolas"/>
              </a:rPr>
              <a:t>db/tools.json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paper_researcher</a:t>
            </a:r>
            <a:r>
              <a:rPr sz="1800">
                <a:solidFill>
                  <a:srgbClr val="1A1A2E"/>
                </a:solidFill>
                <a:latin typeface="Arial"/>
              </a:rPr>
              <a:t> searches papers </a:t>
            </a:r>
            <a:r>
              <a:rPr b="1" sz="1800">
                <a:solidFill>
                  <a:srgbClr val="0088CC"/>
                </a:solidFill>
                <a:latin typeface="Arial"/>
              </a:rPr>
              <a:t>AND</a:t>
            </a:r>
            <a:r>
              <a:rPr sz="1800">
                <a:solidFill>
                  <a:srgbClr val="1A1A2E"/>
                </a:solidFill>
                <a:latin typeface="Arial"/>
              </a:rPr>
              <a:t> downloads PDFs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presentation_slide_writer</a:t>
            </a:r>
            <a:r>
              <a:rPr sz="1800">
                <a:solidFill>
                  <a:srgbClr val="1A1A2E"/>
                </a:solidFill>
                <a:latin typeface="Arial"/>
              </a:rPr>
              <a:t> manipulates slides </a:t>
            </a:r>
            <a:r>
              <a:rPr b="1" sz="1800">
                <a:solidFill>
                  <a:srgbClr val="0088CC"/>
                </a:solidFill>
                <a:latin typeface="Arial"/>
              </a:rPr>
              <a:t>directly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Demo: What We Built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937760"/>
          </a:xfrm>
          <a:prstGeom prst="roundRect">
            <a:avLst/>
          </a:prstGeom>
          <a:solidFill>
            <a:srgbClr val="F8F9FA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list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10 agents: architect, tool_architect, paper_researcher...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run paper_researcher "Find the Voyager paper"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Found: arxiv.org/abs/2305.16291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Downloaded: voyager_lifelong_learning.pdf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$ lightning run presentation_slide_writer "List slides"</a:t>
            </a:r>
          </a:p>
          <a:p>
            <a:pPr>
              <a:defRPr sz="1400">
                <a:solidFill>
                  <a:srgbClr val="1A1A2E"/>
                </a:solidFill>
                <a:latin typeface="Consolas"/>
              </a:defRPr>
            </a:pPr>
            <a:r>
              <a:t>  12 slides in current presentation...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Arial"/>
              </a:defRPr>
            </a:pPr>
            <a:r>
              <a:t>The Meta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We used </a:t>
            </a:r>
            <a:r>
              <a:rPr sz="1600">
                <a:solidFill>
                  <a:srgbClr val="FF6B35"/>
                </a:solidFill>
                <a:latin typeface="Consolas"/>
              </a:rPr>
              <a:t>paper_researcher</a:t>
            </a:r>
            <a:r>
              <a:rPr sz="1800">
                <a:solidFill>
                  <a:srgbClr val="1A1A2E"/>
                </a:solidFill>
                <a:latin typeface="Arial"/>
              </a:rPr>
              <a:t> to find the </a:t>
            </a:r>
            <a:r>
              <a:rPr b="1" sz="1800">
                <a:solidFill>
                  <a:srgbClr val="0088CC"/>
                </a:solidFill>
                <a:latin typeface="Arial"/>
              </a:rPr>
              <a:t>Voyager paper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Voyager inspired the </a:t>
            </a:r>
            <a:r>
              <a:rPr b="1" sz="1800">
                <a:solidFill>
                  <a:srgbClr val="0088CC"/>
                </a:solidFill>
                <a:latin typeface="Arial"/>
              </a:rPr>
              <a:t>architect pattern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We built </a:t>
            </a:r>
            <a:r>
              <a:rPr sz="1600">
                <a:solidFill>
                  <a:srgbClr val="FF6B35"/>
                </a:solidFill>
                <a:latin typeface="Consolas"/>
              </a:rPr>
              <a:t>tool_architect</a:t>
            </a:r>
            <a:r>
              <a:rPr sz="1800">
                <a:solidFill>
                  <a:srgbClr val="1A1A2E"/>
                </a:solidFill>
                <a:latin typeface="Arial"/>
              </a:rPr>
              <a:t> to create </a:t>
            </a:r>
            <a:r>
              <a:rPr b="1" sz="1800">
                <a:solidFill>
                  <a:srgbClr val="0088CC"/>
                </a:solidFill>
                <a:latin typeface="Arial"/>
              </a:rPr>
              <a:t>more tools</a:t>
            </a:r>
          </a:p>
          <a:p>
            <a:pPr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presentation_slide_writer</a:t>
            </a:r>
            <a:r>
              <a:rPr sz="1800">
                <a:solidFill>
                  <a:srgbClr val="1A1A2E"/>
                </a:solidFill>
                <a:latin typeface="Arial"/>
              </a:rPr>
              <a:t> is building </a:t>
            </a:r>
            <a:r>
              <a:rPr b="1" sz="1800">
                <a:solidFill>
                  <a:srgbClr val="0088CC"/>
                </a:solidFill>
                <a:latin typeface="Arial"/>
              </a:rPr>
              <a:t>THIS presentation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88CC"/>
                </a:solidFill>
                <a:latin typeface="Arial"/>
              </a:defRPr>
            </a:pPr>
            <a:r>
              <a:t>Lightning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34095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1600"/>
              </a:spcBef>
            </a:pPr>
            <a:r>
              <a:rPr b="1" sz="1800">
                <a:solidFill>
                  <a:srgbClr val="0088CC"/>
                </a:solidFill>
                <a:latin typeface="Arial"/>
              </a:rPr>
              <a:t>Agents</a:t>
            </a:r>
            <a:r>
              <a:rPr sz="1800">
                <a:solidFill>
                  <a:srgbClr val="1A1A2E"/>
                </a:solidFill>
                <a:latin typeface="Arial"/>
              </a:rPr>
              <a:t> creating </a:t>
            </a:r>
            <a:r>
              <a:rPr b="1" sz="1800">
                <a:solidFill>
                  <a:srgbClr val="0088CC"/>
                </a:solidFill>
                <a:latin typeface="Arial"/>
              </a:rPr>
              <a:t>agents</a:t>
            </a:r>
            <a:r>
              <a:rPr sz="1800">
                <a:solidFill>
                  <a:srgbClr val="1A1A2E"/>
                </a:solidFill>
                <a:latin typeface="Arial"/>
              </a:rPr>
              <a:t> creating </a:t>
            </a:r>
            <a:r>
              <a:rPr b="1" sz="1800">
                <a:solidFill>
                  <a:srgbClr val="0088CC"/>
                </a:solidFill>
                <a:latin typeface="Arial"/>
              </a:rPr>
              <a:t>tools</a:t>
            </a:r>
          </a:p>
          <a:p>
            <a:pPr algn="ctr">
              <a:spcBef>
                <a:spcPts val="1600"/>
              </a:spcBef>
            </a:pPr>
            <a:r>
              <a:rPr sz="1800">
                <a:solidFill>
                  <a:srgbClr val="1A1A2E"/>
                </a:solidFill>
                <a:latin typeface="Arial"/>
              </a:rPr>
              <a:t>Built with </a:t>
            </a:r>
            <a:r>
              <a:rPr sz="1600">
                <a:solidFill>
                  <a:srgbClr val="FF6B35"/>
                </a:solidFill>
                <a:latin typeface="Consolas"/>
              </a:rPr>
              <a:t>Claude Agent SDK</a:t>
            </a:r>
            <a:r>
              <a:rPr sz="1800">
                <a:solidFill>
                  <a:srgbClr val="1A1A2E"/>
                </a:solidFill>
                <a:latin typeface="Arial"/>
              </a:rPr>
              <a:t> + </a:t>
            </a:r>
            <a:r>
              <a:rPr sz="1600">
                <a:solidFill>
                  <a:srgbClr val="FF6B35"/>
                </a:solidFill>
                <a:latin typeface="Consolas"/>
              </a:rPr>
              <a:t>MCP</a:t>
            </a:r>
          </a:p>
          <a:p>
            <a:pPr algn="ctr">
              <a:spcBef>
                <a:spcPts val="1600"/>
              </a:spcBef>
            </a:pPr>
            <a:r>
              <a:rPr sz="1600">
                <a:solidFill>
                  <a:srgbClr val="FF6B35"/>
                </a:solidFill>
                <a:latin typeface="Consolas"/>
              </a:rPr>
              <a:t>github.com/aimug-org/lightning-agents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B35"/>
                </a:solidFill>
                <a:latin typeface="Arial"/>
              </a:defRPr>
            </a:pPr>
            <a:r>
              <a:t>Austin AI MUG | aimug.org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