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Arial"/>
              </a:defRPr>
            </a:pPr>
            <a:r>
              <a:t>Factory-of-Factories for Dynamic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  <a:latin typeface="Arial"/>
              </a:defRPr>
            </a:pPr>
            <a:r>
              <a:t>Ricardo Pirruccio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 | aimug.org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C3545"/>
                </a:solidFill>
              </a:defRPr>
            </a:pPr>
            <a:r>
              <a:t>TYPICAL AGENT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agent_v1.py, agent_v2.py, agent_final.py...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Hardcoded prompts in every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Copy-paste to create new agents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Change model name in 47 places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✗ No single source of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645920"/>
            <a:ext cx="5410047" cy="4389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7" y="1828800"/>
            <a:ext cx="5410047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</a:defRPr>
            </a:pPr>
            <a:r>
              <a:t>FACTORY-OF-FACTORIES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327" y="2468880"/>
            <a:ext cx="5044287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One agents.json file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Declarative definitions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Registry builds factories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Runtime context injection</a:t>
            </a:r>
          </a:p>
          <a:p>
            <a:pPr>
              <a:spcBef>
                <a:spcPts val="800"/>
              </a:spcBef>
              <a:defRPr sz="1600">
                <a:solidFill>
                  <a:srgbClr val="1A1A2E"/>
                </a:solidFill>
              </a:defRPr>
            </a:pPr>
            <a:r>
              <a:t>✓ Agents create new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Voyager Insight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5410047" cy="7315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VOYAGER (2023)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24447" y="1645920"/>
            <a:ext cx="5410047" cy="73152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LIGHTNING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4447" y="246888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Learns new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60604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Creates new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skill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24612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Stores in agents.json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3749040"/>
            <a:ext cx="5410047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Retrieves when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388620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Registry.create()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Skills compound over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526280"/>
            <a:ext cx="5410047" cy="3657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A1A2E"/>
                </a:solidFill>
              </a:defRPr>
            </a:pPr>
            <a:r>
              <a:t>Agents create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88CC"/>
                </a:solidFill>
              </a:defRPr>
            </a:pPr>
            <a:r>
              <a:t>SAME PATTERN. DIFFERENT DOMAIN.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Industry Agrees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oy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2306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55448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Voyager (2023)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1460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ng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67462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260604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ep_ag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2618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37360" y="3657600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Deep Agents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17720"/>
            <a:ext cx="2743200" cy="8229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laude_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77774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7360" y="4709159"/>
            <a:ext cx="1737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</a:defRPr>
            </a:pPr>
            <a:r>
              <a:t>Claude Agent SDK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171700"/>
            <a:ext cx="3200400" cy="2560320"/>
          </a:xfrm>
          <a:prstGeom prst="roundRect">
            <a:avLst/>
          </a:prstGeom>
          <a:solidFill>
            <a:srgbClr val="008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Factory-of-Factories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49039" y="178308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3749039" y="283464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3749039" y="388620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3749039" y="4937760"/>
            <a:ext cx="3931920" cy="18288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66666"/>
                </a:solidFill>
              </a:defRPr>
            </a:pPr>
            <a:r>
              <a:t>Everyone's arriving at the same place: less code, more context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Solution: Factory-of-Factories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9260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Definition</a:t>
            </a:r>
            <a:br/>
            <a:r>
              <a:t>(JSON)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29260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Factory</a:t>
            </a:r>
            <a:br/>
            <a:r>
              <a:t>(Callable)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292608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  <a:br/>
            <a:r>
              <a:t>(Unified)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92608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Instance</a:t>
            </a:r>
            <a:br/>
            <a:r>
              <a:t>(Ready)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747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62179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9611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Simple Factory vs Factory-of-Factories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</a:defRPr>
            </a:pPr>
            <a:r>
              <a:t>Simple Factory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def create_agent(config):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return Agent(config)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t>Factory-of-Factories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registry = AgentRegistry.from_json(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"agents.json"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agent = registry.create(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"researcher", {"topic": "AI"}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Declarative Agent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"architect": 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"name": "Agent Architect",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"description": "Designs new 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"system_prompt": "You are an Agent Architect...",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"model": "sonnet",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"tools": [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"mcp__custom-tools__db_create_agent",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"mcp__custom-tools__db_list_agents",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"mcp__custom-tools__run_agent"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]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Registry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329184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class AgentRegistry: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from_json(path) -&gt; "AgentRegistry":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Load definitions -&gt; build factories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create(id, opts) -&gt; AgentInstance: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Factory creates configured instance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register(id, defn) -&gt; None: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Add new agent to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Single source of truth</a:t>
            </a:r>
            <a:r>
              <a:rPr sz="1600">
                <a:solidFill>
                  <a:srgbClr val="1A1A2E"/>
                </a:solidFill>
                <a:latin typeface="Arial"/>
              </a:rPr>
              <a:t> for all agent definitions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Runtime creation</a:t>
            </a:r>
            <a:r>
              <a:rPr sz="1600">
                <a:solidFill>
                  <a:srgbClr val="1A1A2E"/>
                </a:solidFill>
                <a:latin typeface="Arial"/>
              </a:rPr>
              <a:t> - agents spawn new agents on demand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088CC"/>
                </a:solidFill>
                <a:latin typeface="Arial"/>
              </a:rPr>
              <a:t>Self-modifying</a:t>
            </a:r>
            <a:r>
              <a:rPr sz="1600">
                <a:solidFill>
                  <a:srgbClr val="1A1A2E"/>
                </a:solidFill>
                <a:latin typeface="Arial"/>
              </a:rPr>
              <a:t> - architects can register new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Architect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Task</a:t>
            </a:r>
            <a:br/>
            <a:r>
              <a:t>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228600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Architect</a:t>
            </a:r>
            <a:br/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228600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Definition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438912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38912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Instance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747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6751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641080" y="3657600"/>
            <a:ext cx="274320" cy="640079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6675120" y="489204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Introducing: The Tool Architect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Agents can also design </a:t>
            </a:r>
            <a:r>
              <a:rPr b="1" sz="1800">
                <a:solidFill>
                  <a:srgbClr val="0088CC"/>
                </a:solidFill>
                <a:latin typeface="Arial"/>
              </a:rPr>
              <a:t>NEW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registers definitions in </a:t>
            </a:r>
            <a:r>
              <a:rPr sz="1600">
                <a:solidFill>
                  <a:srgbClr val="FF6B35"/>
                </a:solidFill>
                <a:latin typeface="Consolas"/>
              </a:rPr>
              <a:t>db/tools.json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searches papers </a:t>
            </a:r>
            <a:r>
              <a:rPr b="1" sz="1800">
                <a:solidFill>
                  <a:srgbClr val="0088CC"/>
                </a:solidFill>
                <a:latin typeface="Arial"/>
              </a:rPr>
              <a:t>AND</a:t>
            </a:r>
            <a:r>
              <a:rPr sz="1800">
                <a:solidFill>
                  <a:srgbClr val="1A1A2E"/>
                </a:solidFill>
                <a:latin typeface="Arial"/>
              </a:rPr>
              <a:t> downloads PDFs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manipulates slides </a:t>
            </a:r>
            <a:r>
              <a:rPr b="1" sz="1800">
                <a:solidFill>
                  <a:srgbClr val="0088CC"/>
                </a:solidFill>
                <a:latin typeface="Arial"/>
              </a:rPr>
              <a:t>directly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Demo: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list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10 agents: architect, tool_architect, paper_researcher...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paper_researcher "Find the Voyager paper"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Found: arxiv.org/abs/2305.16291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Downloaded: voyager_lifelong_learning.pdf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presentation_slide_writer "List slides"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12 slides in current presentation...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Meta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used </a:t>
            </a: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to find the </a:t>
            </a:r>
            <a:r>
              <a:rPr b="1" sz="1800">
                <a:solidFill>
                  <a:srgbClr val="0088CC"/>
                </a:solidFill>
                <a:latin typeface="Arial"/>
              </a:rPr>
              <a:t>Voyager paper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Voyager inspired the </a:t>
            </a:r>
            <a:r>
              <a:rPr b="1" sz="1800">
                <a:solidFill>
                  <a:srgbClr val="0088CC"/>
                </a:solidFill>
                <a:latin typeface="Arial"/>
              </a:rPr>
              <a:t>architect pattern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built </a:t>
            </a: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to create </a:t>
            </a:r>
            <a:r>
              <a:rPr b="1" sz="1800">
                <a:solidFill>
                  <a:srgbClr val="0088CC"/>
                </a:solidFill>
                <a:latin typeface="Arial"/>
              </a:rPr>
              <a:t>more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built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presentation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This slide</a:t>
            </a:r>
            <a:r>
              <a:rPr sz="1800">
                <a:solidFill>
                  <a:srgbClr val="1A1A2E"/>
                </a:solidFill>
                <a:latin typeface="Arial"/>
              </a:rPr>
              <a:t> was created by an agent that was created by an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⚡ Lightning Agents 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40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Questions?</a:t>
            </a:r>
          </a:p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tools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Built with </a:t>
            </a:r>
            <a:r>
              <a:rPr sz="1600">
                <a:solidFill>
                  <a:srgbClr val="FF6B35"/>
                </a:solidFill>
                <a:latin typeface="Consolas"/>
              </a:rPr>
              <a:t>Claude Agent SDK</a:t>
            </a:r>
            <a:r>
              <a:rPr sz="1800">
                <a:solidFill>
                  <a:srgbClr val="1A1A2E"/>
                </a:solidFill>
                <a:latin typeface="Arial"/>
              </a:rPr>
              <a:t> + </a:t>
            </a:r>
            <a:r>
              <a:rPr sz="1600">
                <a:solidFill>
                  <a:srgbClr val="FF6B35"/>
                </a:solidFill>
                <a:latin typeface="Consolas"/>
              </a:rPr>
              <a:t>MCP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github.com/aimug-org/austin_langchain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github.com/RPirruccio/lightning-agents | aimug.org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